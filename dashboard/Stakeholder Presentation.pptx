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9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6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3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8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9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6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4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3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48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80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00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90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9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57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2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FF7E8B-22DF-44CA-81BA-3514441931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CCAF64-9024-4A99-85C2-50DC0E09C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8AF4-9C16-EA5E-F376-95FEEB3D5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Segmentation &amp; Revenue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7CD83-FB56-84FC-F5E5-058D2A4EE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Peri Venetis</a:t>
            </a:r>
          </a:p>
          <a:p>
            <a:r>
              <a:rPr lang="en-US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322140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345-6241-245B-BAD6-6E02967B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92A7-68D3-8FE4-F92F-7B7376A70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Goal: </a:t>
            </a:r>
            <a:r>
              <a:rPr lang="en-US" dirty="0"/>
              <a:t>Help the print shop understand which customers drive revenue, which need attention, and where to focus retention, re-engagement, and growth efforts</a:t>
            </a:r>
          </a:p>
          <a:p>
            <a:pPr lvl="1"/>
            <a:r>
              <a:rPr lang="en-US" b="1" dirty="0"/>
              <a:t>Key Questions:</a:t>
            </a:r>
          </a:p>
          <a:p>
            <a:pPr lvl="1"/>
            <a:r>
              <a:rPr lang="en-US" dirty="0"/>
              <a:t>Who are our best customers?</a:t>
            </a:r>
          </a:p>
          <a:p>
            <a:pPr lvl="1"/>
            <a:r>
              <a:rPr lang="en-US" dirty="0"/>
              <a:t>Which customers are slipping or at risk?</a:t>
            </a:r>
          </a:p>
          <a:p>
            <a:pPr lvl="1"/>
            <a:r>
              <a:rPr lang="en-US" dirty="0"/>
              <a:t>Which group has the highest growth potential?</a:t>
            </a:r>
          </a:p>
          <a:p>
            <a:pPr lvl="1"/>
            <a:r>
              <a:rPr lang="en-US" dirty="0"/>
              <a:t>How  should marketing/retention budget be prioritized?</a:t>
            </a:r>
          </a:p>
        </p:txBody>
      </p:sp>
    </p:spTree>
    <p:extLst>
      <p:ext uri="{BB962C8B-B14F-4D97-AF65-F5344CB8AC3E}">
        <p14:creationId xmlns:p14="http://schemas.microsoft.com/office/powerpoint/2010/main" val="358317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F72F-897E-A912-3417-5DC9F843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1B48-9BA6-C4F3-6310-1567B0A8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RFM Analysis on Customer Purchases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Recency (0–5):</a:t>
            </a:r>
            <a:r>
              <a:rPr lang="en-US" dirty="0"/>
              <a:t> How recently a customer made a purchase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Frequency (0–5):</a:t>
            </a:r>
            <a:r>
              <a:rPr lang="en-US" dirty="0"/>
              <a:t> How often they purchase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Monetary (0–5):</a:t>
            </a:r>
            <a:r>
              <a:rPr lang="en-US" dirty="0"/>
              <a:t> How much they spend overall</a:t>
            </a:r>
          </a:p>
          <a:p>
            <a:pPr>
              <a:buNone/>
            </a:pPr>
            <a:r>
              <a:rPr lang="en-US" dirty="0"/>
              <a:t>Each customer receives a score out of </a:t>
            </a:r>
            <a:r>
              <a:rPr lang="en-US" b="1" dirty="0"/>
              <a:t>15</a:t>
            </a:r>
            <a:r>
              <a:rPr lang="en-US" dirty="0"/>
              <a:t> (5 points per metric). Based on these scores, customers are segmented into five groups:</a:t>
            </a:r>
            <a:br>
              <a:rPr lang="en-US" dirty="0"/>
            </a:br>
            <a:r>
              <a:rPr lang="en-US" b="1" dirty="0"/>
              <a:t>Best</a:t>
            </a:r>
            <a:r>
              <a:rPr lang="en-US" dirty="0"/>
              <a:t>, </a:t>
            </a:r>
            <a:r>
              <a:rPr lang="en-US" b="1" dirty="0"/>
              <a:t>Loyal</a:t>
            </a:r>
            <a:r>
              <a:rPr lang="en-US" dirty="0"/>
              <a:t>, </a:t>
            </a:r>
            <a:r>
              <a:rPr lang="en-US" b="1" dirty="0"/>
              <a:t>Potential Loyal</a:t>
            </a:r>
            <a:r>
              <a:rPr lang="en-US" dirty="0"/>
              <a:t>, </a:t>
            </a:r>
            <a:r>
              <a:rPr lang="en-US" b="1" dirty="0"/>
              <a:t>Needs Attention</a:t>
            </a:r>
            <a:r>
              <a:rPr lang="en-US" dirty="0"/>
              <a:t>, and </a:t>
            </a:r>
            <a:r>
              <a:rPr lang="en-US" b="1" dirty="0"/>
              <a:t>At Risk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862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6FE3E-092C-D614-317E-6AF2FB5C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34A7-1B82-78B9-6743-4220682D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Best + Loyal customers (~70% revenue)</a:t>
            </a:r>
            <a:br>
              <a:rPr lang="en-US" dirty="0"/>
            </a:br>
            <a:r>
              <a:rPr lang="en-US" dirty="0"/>
              <a:t>These 2 segments form the core of the business.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Best → buy highest value items (Canvas Print, Photo Book)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Loyal → consistent repeat buyers (Business Cards, Greeting Cards)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Potential Loyal (~22% revenue)</a:t>
            </a:r>
            <a:br>
              <a:rPr lang="en-US" dirty="0"/>
            </a:br>
            <a:r>
              <a:rPr lang="en-US" dirty="0"/>
              <a:t>Biggest </a:t>
            </a:r>
            <a:r>
              <a:rPr lang="en-US" i="1" dirty="0"/>
              <a:t>growth</a:t>
            </a:r>
            <a:r>
              <a:rPr lang="en-US" dirty="0"/>
              <a:t> segment. With campaigns, they could move into Loyal/Best.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 Attention (~7–8% revenue)</a:t>
            </a:r>
            <a:br>
              <a:rPr lang="en-US" dirty="0"/>
            </a:br>
            <a:r>
              <a:rPr lang="en-US" dirty="0"/>
              <a:t>They mostly buy Greeting Cards. Small incentives could recover ~$1.3K of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 Risk (&lt;1% revenue)</a:t>
            </a:r>
            <a:br>
              <a:rPr lang="en-US" dirty="0"/>
            </a:br>
            <a:r>
              <a:rPr lang="en-US" dirty="0"/>
              <a:t>Low revenue and low activity. Can be deprioritized for now.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74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885A-15B3-8456-D6E2-D18B123F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F4170-B9E1-FDB8-F1E5-A5CF7E60A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Retention (Best + Loyal)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loyalty perks, exclusive deals, and targeted upsells.</a:t>
            </a:r>
          </a:p>
          <a:p>
            <a:pPr>
              <a:buNone/>
            </a:pPr>
            <a:r>
              <a:rPr lang="en-US" b="1" dirty="0"/>
              <a:t>Growth (Potential Loyal)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 top-performing products; send personalized reminders.</a:t>
            </a:r>
          </a:p>
          <a:p>
            <a:pPr>
              <a:buNone/>
            </a:pPr>
            <a:r>
              <a:rPr lang="en-US" b="1" dirty="0"/>
              <a:t>Re-engage (Need Attention)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incentives for Greeting Cards (their main product).</a:t>
            </a:r>
          </a:p>
          <a:p>
            <a:pPr>
              <a:buNone/>
            </a:pPr>
            <a:r>
              <a:rPr lang="en-US" b="1" dirty="0"/>
              <a:t>Low Priority (At Risk)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Minimal short-term value; optional win-back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5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F5978D-762A-E117-5BE5-EE689D3AD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96" y="626327"/>
            <a:ext cx="10002586" cy="5605346"/>
          </a:xfrm>
        </p:spPr>
      </p:pic>
    </p:spTree>
    <p:extLst>
      <p:ext uri="{BB962C8B-B14F-4D97-AF65-F5344CB8AC3E}">
        <p14:creationId xmlns:p14="http://schemas.microsoft.com/office/powerpoint/2010/main" val="39511883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</TotalTime>
  <Words>323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Customer Segmentation &amp; Revenue Insights</vt:lpstr>
      <vt:lpstr>Business Problem</vt:lpstr>
      <vt:lpstr>What I Did</vt:lpstr>
      <vt:lpstr>Key Insights</vt:lpstr>
      <vt:lpstr>Recommended Actions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Peri Venetis</dc:creator>
  <cp:lastModifiedBy>Peri Venetis</cp:lastModifiedBy>
  <cp:revision>1</cp:revision>
  <dcterms:created xsi:type="dcterms:W3CDTF">2025-12-11T16:43:27Z</dcterms:created>
  <dcterms:modified xsi:type="dcterms:W3CDTF">2025-12-11T16:59:22Z</dcterms:modified>
</cp:coreProperties>
</file>